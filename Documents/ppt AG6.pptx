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0" r:id="rId1"/>
  </p:sldMasterIdLst>
  <p:notesMasterIdLst>
    <p:notesMasterId r:id="rId32"/>
  </p:notesMasterIdLst>
  <p:sldIdLst>
    <p:sldId id="266" r:id="rId2"/>
    <p:sldId id="275" r:id="rId3"/>
    <p:sldId id="272" r:id="rId4"/>
    <p:sldId id="257" r:id="rId5"/>
    <p:sldId id="258" r:id="rId6"/>
    <p:sldId id="297" r:id="rId7"/>
    <p:sldId id="267" r:id="rId8"/>
    <p:sldId id="277" r:id="rId9"/>
    <p:sldId id="278" r:id="rId10"/>
    <p:sldId id="259" r:id="rId11"/>
    <p:sldId id="260" r:id="rId12"/>
    <p:sldId id="279" r:id="rId13"/>
    <p:sldId id="282" r:id="rId14"/>
    <p:sldId id="283" r:id="rId15"/>
    <p:sldId id="284" r:id="rId16"/>
    <p:sldId id="290" r:id="rId17"/>
    <p:sldId id="291" r:id="rId18"/>
    <p:sldId id="292" r:id="rId19"/>
    <p:sldId id="293" r:id="rId20"/>
    <p:sldId id="261" r:id="rId21"/>
    <p:sldId id="294" r:id="rId22"/>
    <p:sldId id="262" r:id="rId23"/>
    <p:sldId id="295" r:id="rId24"/>
    <p:sldId id="296" r:id="rId25"/>
    <p:sldId id="273" r:id="rId26"/>
    <p:sldId id="274" r:id="rId27"/>
    <p:sldId id="298" r:id="rId28"/>
    <p:sldId id="300" r:id="rId29"/>
    <p:sldId id="299" r:id="rId30"/>
    <p:sldId id="271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45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15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07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96E9F-12DF-4ECB-8CA8-9F3DD1CEF5F4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6DA91-90C2-4B54-9830-9DEE56779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82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6DA91-90C2-4B54-9830-9DEE56779C9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332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7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5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2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7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3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6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6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7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1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46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6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81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ailto:shaikmsaidavali@gmail.com" TargetMode="External"/><Relationship Id="rId2" Type="http://schemas.openxmlformats.org/officeDocument/2006/relationships/hyperlink" Target="mailto:divya@gmail.com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129" y="1002889"/>
            <a:ext cx="8347587" cy="5643717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GB" sz="2400" b="1" spc="-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spc="-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Custom Deep Learning Framework for Identifying Security Threats in Digitally Connected Systems</a:t>
            </a:r>
            <a:br>
              <a:rPr lang="en-GB" b="1" dirty="0"/>
            </a:br>
            <a:endParaRPr lang="en-GB" b="1" dirty="0"/>
          </a:p>
          <a:p>
            <a:r>
              <a:rPr lang="en-GB" b="1" spc="-1" dirty="0">
                <a:solidFill>
                  <a:srgbClr val="4C4C4C"/>
                </a:solidFill>
                <a:latin typeface="Arial"/>
              </a:rPr>
              <a:t>PRESENTED BY</a:t>
            </a:r>
          </a:p>
          <a:p>
            <a:pPr algn="l"/>
            <a:r>
              <a:rPr lang="en-GB" sz="2400" b="1" spc="-1" dirty="0">
                <a:solidFill>
                  <a:srgbClr val="4C4C4C"/>
                </a:solidFill>
                <a:latin typeface="Arial"/>
              </a:rPr>
              <a:t>             </a:t>
            </a:r>
            <a:r>
              <a:rPr lang="en-GB" sz="2400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Meghana </a:t>
            </a:r>
            <a:r>
              <a:rPr lang="en-GB" sz="2400" spc="-1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Gaddam</a:t>
            </a:r>
            <a:r>
              <a:rPr lang="en-GB" sz="2400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22471A0518</a:t>
            </a:r>
          </a:p>
          <a:p>
            <a:pPr algn="l"/>
            <a:r>
              <a:rPr lang="en-GB" sz="2400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GB" sz="2400" spc="-1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Divya</a:t>
            </a:r>
            <a:r>
              <a:rPr lang="en-GB" sz="2400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Darla                             22471A0515</a:t>
            </a:r>
          </a:p>
          <a:p>
            <a:pPr algn="l"/>
            <a:r>
              <a:rPr lang="en-GB" sz="2400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GB" sz="2400" spc="-1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</a:t>
            </a:r>
            <a:r>
              <a:rPr lang="en-GB" sz="2400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1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Divya</a:t>
            </a:r>
            <a:r>
              <a:rPr lang="en-GB" sz="2400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1" dirty="0" err="1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Gaddipati</a:t>
            </a:r>
            <a:r>
              <a:rPr lang="en-GB" sz="2400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22471A0520</a:t>
            </a:r>
          </a:p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Sireesha Moturi,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M.Tech.,Ph.D.,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 Engineering College (Autonomous),</a:t>
            </a:r>
            <a:endParaRPr lang="en-GB" sz="2400" spc="-1" dirty="0">
              <a:solidFill>
                <a:srgbClr val="4C4C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Narasaraopet- 522 601.</a:t>
            </a:r>
            <a:endParaRPr lang="en-GB" b="1" spc="-1" dirty="0">
              <a:solidFill>
                <a:srgbClr val="4C4C4C"/>
              </a:solidFill>
              <a:latin typeface="Arial"/>
            </a:endParaRPr>
          </a:p>
          <a:p>
            <a:endParaRPr lang="en-GB" b="1" spc="-1" dirty="0">
              <a:solidFill>
                <a:srgbClr val="4C4C4C"/>
              </a:solidFill>
              <a:latin typeface="Arial"/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073E24-9742-B33A-EB47-EABCFB618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25" y="374460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3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CFC6-9FEF-6DCD-4440-631A6A4E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241" y="758417"/>
            <a:ext cx="1534447" cy="71642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83E56-64B3-73B1-2CF6-AE3C322BB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3162"/>
            <a:ext cx="7886700" cy="4603802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/ Flow diagram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C3D683-BE64-6794-F0EA-6A337FF33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34" y="308094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8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138B8-5A39-56C2-6B8A-A9C757DE5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607" y="865239"/>
            <a:ext cx="2536723" cy="50011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BED3-9FD1-A1EF-C8AD-2FAC10E22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2216"/>
            <a:ext cx="7886700" cy="506065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A hybrid deep learning</a:t>
            </a:r>
            <a:r>
              <a:rPr lang="en-US" sz="2600" spc="-7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approach to</a:t>
            </a:r>
            <a:r>
              <a:rPr lang="en-US" sz="2600" spc="-3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intrusion</a:t>
            </a:r>
            <a:r>
              <a:rPr lang="en-US" sz="2600" spc="-2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detection is</a:t>
            </a:r>
            <a:r>
              <a:rPr lang="en-US" sz="2600" spc="-5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presented to</a:t>
            </a:r>
            <a:r>
              <a:rPr lang="en-US" sz="2600" spc="-3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strengthen security in dynamic and rapidly changing network environments. The proposed system integrates Convolutional Neural Networks (CNNs) for extracting spatial characteristics of traffic with Long Short-Term Memory (LSTM) networks for modeling sequential patterns in data flow. To extend its capability against zero-day and unknown threats, an autoencoder-based anomaly detection component is added, allowing the system to recognize irregular behavior even without predefined attack signatures. Evaluation results indicate that the model achieves detection accuracy above 97% while reporting fewer false positives than conventional intrusion detection techniques. These outcomes confirm the suitability of</a:t>
            </a:r>
            <a:r>
              <a:rPr lang="en-US" sz="2600" spc="20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the framework for real-time and dependable threat monitoring. Owing to its adaptable and scalable architecture, the solution can be effectively applied in IoT, cloud, and other distributed smart network settings, providing a practical defense against continuously evolving cyberattacks.</a:t>
            </a:r>
            <a:endParaRPr lang="en-IN" sz="2600" dirty="0">
              <a:effectLst/>
              <a:latin typeface="Times New Roman" panose="02020603050405020304" pitchFamily="18" charset="0"/>
              <a:ea typeface="Roboto Bk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F33401-B46A-CF8C-1F98-23897D5A0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70" y="298262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1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290" y="833781"/>
            <a:ext cx="3943350" cy="562402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19377D"/>
                </a:solidFill>
              </a:defRPr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90" y="1759974"/>
            <a:ext cx="7757652" cy="4414684"/>
          </a:xfrm>
        </p:spPr>
        <p:txBody>
          <a:bodyPr>
            <a:normAutofit fontScale="25000" lnSpcReduction="20000"/>
          </a:bodyPr>
          <a:lstStyle/>
          <a:p>
            <a:pPr algn="just">
              <a:defRPr sz="2000">
                <a:solidFill>
                  <a:srgbClr val="1E1E1E"/>
                </a:solidFill>
              </a:defRPr>
            </a:pP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A hybrid IDS model is proposed using CNN for spatial features, LSTM for temporal patterns, and an autoencoder for detecting zero-day attacks.</a:t>
            </a:r>
            <a:endParaRPr lang="en-IN" sz="9600" dirty="0"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1E1E1E"/>
                </a:solidFill>
              </a:defRPr>
            </a:pP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It</a:t>
            </a:r>
            <a:r>
              <a:rPr lang="en-US" sz="9600" spc="-3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is</a:t>
            </a:r>
            <a:r>
              <a:rPr lang="en-US" sz="9600" spc="-3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trained</a:t>
            </a:r>
            <a:r>
              <a:rPr lang="en-US" sz="9600" spc="-3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on</a:t>
            </a:r>
            <a:r>
              <a:rPr lang="en-US" sz="9600" spc="-3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NSL-KDD</a:t>
            </a:r>
            <a:r>
              <a:rPr lang="en-US" sz="9600" spc="-3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and</a:t>
            </a:r>
            <a:r>
              <a:rPr lang="en-US" sz="9600" spc="-3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CICIDS2017</a:t>
            </a:r>
            <a:r>
              <a:rPr lang="en-US" sz="9600" spc="-3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datasets</a:t>
            </a:r>
            <a:r>
              <a:rPr lang="en-US" sz="9600" spc="-3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with</a:t>
            </a:r>
            <a:r>
              <a:rPr lang="en-US" sz="9600" spc="-3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preprocessing</a:t>
            </a:r>
            <a:r>
              <a:rPr lang="en-US" sz="9600" spc="-3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steps</a:t>
            </a:r>
            <a:r>
              <a:rPr lang="en-US" sz="9600" spc="-3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like SMOTE, one-hot encoding, and PCA for balanced and eﬃcient learning.</a:t>
            </a:r>
            <a:endParaRPr lang="en-IN" sz="9600" dirty="0"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1E1E1E"/>
                </a:solidFill>
              </a:defRPr>
            </a:pP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The</a:t>
            </a:r>
            <a:r>
              <a:rPr lang="en-US" sz="9600" spc="-4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system</a:t>
            </a:r>
            <a:r>
              <a:rPr lang="en-US" sz="9600" spc="-4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achieves</a:t>
            </a:r>
            <a:r>
              <a:rPr lang="en-US" sz="9600" spc="-4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97.2%</a:t>
            </a:r>
            <a:r>
              <a:rPr lang="en-US" sz="9600" spc="-4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accuracy,</a:t>
            </a:r>
            <a:r>
              <a:rPr lang="en-US" sz="9600" spc="-4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reduces</a:t>
            </a:r>
            <a:r>
              <a:rPr lang="en-US" sz="9600" spc="-4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false</a:t>
            </a:r>
            <a:r>
              <a:rPr lang="en-US" sz="9600" spc="-4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positives</a:t>
            </a:r>
            <a:r>
              <a:rPr lang="en-US" sz="9600" spc="-4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by</a:t>
            </a:r>
            <a:r>
              <a:rPr lang="en-US" sz="9600" spc="-4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60%,</a:t>
            </a:r>
            <a:r>
              <a:rPr lang="en-US" sz="9600" spc="-4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and</a:t>
            </a:r>
            <a:r>
              <a:rPr lang="en-US" sz="9600" spc="-4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improves detection and response times significantly.</a:t>
            </a:r>
            <a:endParaRPr lang="en-IN" sz="9600" dirty="0"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1E1E1E"/>
                </a:solidFill>
              </a:defRPr>
            </a:pP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Visual results including confusion matrix and ROC curve (AUC = 1.00) confirm high precision and minimal misclassification.</a:t>
            </a:r>
            <a:endParaRPr lang="en-IN" sz="9600" dirty="0"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1E1E1E"/>
                </a:solidFill>
              </a:defRPr>
            </a:pP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Designed</a:t>
            </a:r>
            <a:r>
              <a:rPr lang="en-US" sz="9600" spc="4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for</a:t>
            </a:r>
            <a:r>
              <a:rPr lang="en-US" sz="9600" spc="4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IoT</a:t>
            </a:r>
            <a:r>
              <a:rPr lang="en-US" sz="9600" spc="4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and</a:t>
            </a:r>
            <a:r>
              <a:rPr lang="en-US" sz="9600" spc="4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cloud</a:t>
            </a:r>
            <a:r>
              <a:rPr lang="en-US" sz="9600" spc="4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environments,</a:t>
            </a:r>
            <a:r>
              <a:rPr lang="en-US" sz="9600" spc="4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the</a:t>
            </a:r>
            <a:r>
              <a:rPr lang="en-US" sz="9600" spc="4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model</a:t>
            </a:r>
            <a:r>
              <a:rPr lang="en-US" sz="9600" spc="4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supports</a:t>
            </a:r>
            <a:r>
              <a:rPr lang="en-US" sz="9600" spc="4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real-time</a:t>
            </a:r>
            <a:r>
              <a:rPr lang="en-US" sz="9600" spc="40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deployment </a:t>
            </a:r>
            <a:r>
              <a:rPr lang="en-US" sz="9600" spc="-2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with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	scalable</a:t>
            </a:r>
            <a:r>
              <a:rPr lang="en-US" sz="9600" spc="-9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and</a:t>
            </a:r>
            <a:r>
              <a:rPr lang="en-US" sz="9600" spc="-9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adaptive</a:t>
            </a:r>
            <a:r>
              <a:rPr lang="en-US" sz="9600" spc="-9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96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architecture.</a:t>
            </a:r>
            <a:endParaRPr lang="en-IN" sz="9600" spc="0" dirty="0">
              <a:effectLst/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1E1E1E"/>
                </a:solidFill>
              </a:defRP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8F55B-66E8-F6D6-CE02-91735A06F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9" y="266803"/>
            <a:ext cx="3761558" cy="566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347" y="678427"/>
            <a:ext cx="4178711" cy="486962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19377D"/>
                </a:solidFill>
              </a:defRPr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568119-E8FC-343E-43E7-7FF1E62E3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63" y="216308"/>
            <a:ext cx="3761558" cy="566977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89FBD14-EC5D-48C2-B7FA-EE130B8B7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45404"/>
            <a:ext cx="7886700" cy="5278964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years have seen rapid growth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based Intrusion Detection Systems (IDS)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protect networks from evolving cyber threats.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signature-based techniques fail to detect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and zero-day attacks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intelligent ML/DL approaches are widely adopted.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Ahmed &amp; Khan proposed deep learning with feature selection for SDN-based IDS to improve accuracy and reduce computation.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Gupta &amp; Roy combined Bloom filters with deep learning to reduce latency and enhance anomaly detection.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Rahman &amp; Chowdhury developed lightweight IDS models suitable for IoT devices with limited resources.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Satılmis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reported that anomaly-based detection performs better than signature-based methods for unknown threats.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studies show that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improves detection performance and efficiency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8100-2F0C-40E6-B9F0-9B96D5DF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B1F2A-1A62-4E37-9F3A-D3FDF588B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83957"/>
            <a:ext cx="7886700" cy="4793006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and advanced models further enhance intrusion detection capability.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Ali &amp; Kumar introduced CNN + LSTM hybrid architecture achieving very high accuracy (&gt;98%).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Wang &amp; Li used Bi-LSTM with GAN to detect rare and zero-day attacks effectively.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Babu et al. applied hybrid deep learning with optimization and feature engineering to reduce false positives and improve reliability.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existing systems still suffer from: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false positives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Class imbalance issues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Poor zero-day detection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computational complexity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real-time deployment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89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9173" y="846454"/>
            <a:ext cx="3165987" cy="566977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B6D25E-F38F-8A5F-275C-A2A0CEBDC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37187"/>
            <a:ext cx="7905136" cy="5520813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existing IDS models suffer from redundant and irrelevant features, causing overfitting and longer training times.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 predictions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most models rely on fixed thresholds and can’t adapt to low-confidence or borderline cases.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rare or hidden attacks (like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PortScan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Heartbleed, Infiltration) are often missed due to skewed datasets.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Single-model dependency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relying on one classifier (e.g., DNN or Random Forest) limits adaptability and generalization.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interpretability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deep learning IDS models often behave as black boxes, offering little explanation or post-prediction correction.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6A1166-DF86-89AC-47F3-F656115DC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39" y="282771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27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D52A-9D96-673A-61A4-C3179C87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80" y="681037"/>
            <a:ext cx="4031840" cy="539442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E3399F-E10C-856F-6EEA-190F47717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24" y="114060"/>
            <a:ext cx="3761558" cy="5669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278AED-035F-87A2-A40C-A3135D05C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87457"/>
            <a:ext cx="7886700" cy="3698944"/>
          </a:xfrm>
        </p:spPr>
        <p:txBody>
          <a:bodyPr>
            <a:normAutofit/>
          </a:bodyPr>
          <a:lstStyle/>
          <a:p>
            <a:pPr lvl="0" algn="just">
              <a:buSzPts val="2350"/>
              <a:tabLst>
                <a:tab pos="1213485" algn="l"/>
              </a:tabLst>
            </a:pPr>
            <a:r>
              <a:rPr lang="en-US" sz="2400" b="1" spc="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Evolving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Threats </a:t>
            </a:r>
            <a:r>
              <a:rPr lang="en-IN" sz="2400" b="1" dirty="0"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-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Existing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IDS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struggle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to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adapt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to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new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attack</a:t>
            </a:r>
            <a:r>
              <a:rPr lang="en-US" sz="2400" spc="2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techniques.</a:t>
            </a:r>
            <a:endParaRPr lang="en-IN" sz="2400" dirty="0"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lvl="0" algn="just">
              <a:buSzPts val="2350"/>
              <a:tabLst>
                <a:tab pos="1213485" algn="l"/>
              </a:tabLst>
            </a:pPr>
            <a:r>
              <a:rPr lang="en-US" sz="2400" b="1" spc="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High</a:t>
            </a:r>
            <a:r>
              <a:rPr lang="en-US" sz="2400" b="1" spc="15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spc="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False</a:t>
            </a:r>
            <a:r>
              <a:rPr lang="en-US" sz="2400" b="1" spc="2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Positives</a:t>
            </a:r>
            <a:r>
              <a:rPr lang="en-IN" sz="2400" b="1" dirty="0"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 -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Legacy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systems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frequently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generate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excessive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false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alerts,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hindering</a:t>
            </a:r>
            <a:r>
              <a:rPr lang="en-US" sz="2400" spc="15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reliability.</a:t>
            </a:r>
            <a:endParaRPr lang="en-IN" sz="2400" dirty="0"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lvl="0" algn="just">
              <a:buSzPts val="2350"/>
              <a:tabLst>
                <a:tab pos="1213485" algn="l"/>
              </a:tabLst>
            </a:pPr>
            <a:r>
              <a:rPr lang="en-US" sz="2400" b="1" spc="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Scalability</a:t>
            </a:r>
            <a:r>
              <a:rPr lang="en-US" sz="2400" b="1" spc="8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Issues</a:t>
            </a:r>
            <a:r>
              <a:rPr lang="en-IN" sz="2400" b="1" dirty="0"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 -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Many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systems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lack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necessary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scalability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for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IoT</a:t>
            </a:r>
            <a:r>
              <a:rPr lang="en-US" sz="2400" spc="3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Arial MT"/>
                <a:cs typeface="Times New Roman" panose="02020603050405020304" pitchFamily="18" charset="0"/>
              </a:rPr>
              <a:t>environments.</a:t>
            </a:r>
            <a:endParaRPr lang="en-IN" sz="2400" dirty="0">
              <a:latin typeface="Times New Roman" panose="02020603050405020304" pitchFamily="18" charset="0"/>
              <a:ea typeface="Arial MT"/>
              <a:cs typeface="Times New Roman" panose="02020603050405020304" pitchFamily="18" charset="0"/>
            </a:endParaRPr>
          </a:p>
          <a:p>
            <a:pPr lvl="0" algn="just">
              <a:buSzPts val="2350"/>
              <a:tabLst>
                <a:tab pos="1213485" algn="l"/>
              </a:tabLst>
            </a:pPr>
            <a:r>
              <a:rPr lang="en-US" sz="2400" b="1" spc="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Data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 Imbalance</a:t>
            </a:r>
            <a:r>
              <a:rPr lang="en-IN" sz="2400" b="1" dirty="0">
                <a:latin typeface="Times New Roman" panose="02020603050405020304" pitchFamily="18" charset="0"/>
                <a:ea typeface="Segoe UI Symbol" panose="020B0502040204020203" pitchFamily="34" charset="0"/>
                <a:cs typeface="Times New Roman" panose="02020603050405020304" pitchFamily="18" charset="0"/>
              </a:rPr>
              <a:t> - </a:t>
            </a:r>
            <a:r>
              <a:rPr lang="en-US" sz="240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Network traffic datasets often show significant class imbalances, affecting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Roboto Bk"/>
                <a:cs typeface="Times New Roman" panose="02020603050405020304" pitchFamily="18" charset="0"/>
              </a:rPr>
              <a:t>performance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286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BB5C1-978F-B108-3D91-C76DD4A15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673" y="692148"/>
            <a:ext cx="2281698" cy="608268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5B6EF-FF9E-9430-378A-F314982BE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0416"/>
            <a:ext cx="7886700" cy="4876547"/>
          </a:xfrm>
        </p:spPr>
        <p:txBody>
          <a:bodyPr>
            <a:normAutofit fontScale="25000" lnSpcReduction="20000"/>
          </a:bodyPr>
          <a:lstStyle/>
          <a:p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Hybrid Deep Learning Model 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eﬃcient CNN–LSTM–Autoencoder framework for detecting and classifying security threats in digitally connected systems.</a:t>
            </a:r>
          </a:p>
          <a:p>
            <a:pPr algn="just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Detection Accuracy 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model’s ability to identify both known and unknown (zero-day) cyberattacks with high precision and recall.</a:t>
            </a:r>
          </a:p>
          <a:p>
            <a:pPr algn="just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False Positives 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the rate of false alarms that typically affect traditional Intrusion Detection Systems (IDS).</a:t>
            </a:r>
          </a:p>
          <a:p>
            <a:pPr algn="just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Real-Time Performance 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scalable and adaptive IDS suitable for IoT and cloud network environments, capable of real-time threat detection.</a:t>
            </a:r>
          </a:p>
          <a:p>
            <a:pPr algn="just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Validate the Model 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test the proposed system on standard datasets (NSL-KDD and CICIDS2017) and compare its performance with existing IDS approaches.</a:t>
            </a:r>
          </a:p>
          <a:p>
            <a:pPr marL="0" indent="0" algn="just">
              <a:buNone/>
            </a:pPr>
            <a:br>
              <a:rPr lang="en-US" sz="2400" dirty="0"/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F8B8E7-8560-F44C-B5BE-BC13F0393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18" y="114060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8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6851" y="755437"/>
            <a:ext cx="6656439" cy="566977"/>
          </a:xfrm>
        </p:spPr>
        <p:txBody>
          <a:bodyPr>
            <a:noAutofit/>
          </a:bodyPr>
          <a:lstStyle/>
          <a:p>
            <a:pPr>
              <a:defRPr sz="3600" b="1">
                <a:solidFill>
                  <a:srgbClr val="19377D"/>
                </a:solidFill>
              </a:defRPr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/ FLOW DIAGRAM</a:t>
            </a: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1D4733-6962-6278-D40C-D9E276262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95" y="188460"/>
            <a:ext cx="3761558" cy="56697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8DD422B-41EF-443F-B170-78D8CCB38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22414"/>
            <a:ext cx="7886700" cy="485454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" name="Image 42">
            <a:extLst>
              <a:ext uri="{FF2B5EF4-FFF2-40B4-BE49-F238E27FC236}">
                <a16:creationId xmlns:a16="http://schemas.microsoft.com/office/drawing/2014/main" id="{19EE9195-330E-4E00-B843-EE40ED94225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1286" y="1421027"/>
            <a:ext cx="4571999" cy="46815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2789" y="725626"/>
            <a:ext cx="3874524" cy="566977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19377D"/>
                </a:solidFill>
              </a:defRPr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292603"/>
            <a:ext cx="7914970" cy="5186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introduces a Hybrid Deep Learning Based Intrusion Detection Framework (HDL-IDF) that combines:</a:t>
            </a:r>
          </a:p>
          <a:p>
            <a:pPr marL="342900" lvl="1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– Spatial feature extraction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LSTM – Temporal sequence learning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Autoencoder – Anomaly detection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Hybrid fusion – Final classification</a:t>
            </a:r>
          </a:p>
          <a:p>
            <a:pPr marL="0" indent="0" algn="just">
              <a:buNone/>
              <a:defRPr sz="2000">
                <a:solidFill>
                  <a:srgbClr val="1E1E1E"/>
                </a:solidFill>
              </a:defRPr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benchmark datasets are used:</a:t>
            </a:r>
          </a:p>
          <a:p>
            <a:pPr marL="342900" lvl="1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NSL-KDD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refined intrusion dataset with reduced redundancy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CICIDS2017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realistic modern attacks (DoS, Botnet, Brute Force, Infiltration)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datasets provide both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and malicious traffic samples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  <a:defRPr sz="2000">
                <a:solidFill>
                  <a:srgbClr val="1E1E1E"/>
                </a:solidFill>
              </a:defRPr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BF407B-C546-44F5-E01E-E146E92DD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08" y="158650"/>
            <a:ext cx="3761558" cy="566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F0A8-B182-E26A-11A0-B3A0AAB9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9324" y="757005"/>
            <a:ext cx="4578970" cy="67193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11AA9-24D0-1D5D-53E6-4F3EF35F0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55806"/>
            <a:ext cx="7886700" cy="4545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3429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and incomplete records</a:t>
            </a:r>
            <a:b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data consistency</a:t>
            </a:r>
          </a:p>
          <a:p>
            <a:pPr marL="0" indent="0"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Categorization</a:t>
            </a:r>
          </a:p>
          <a:p>
            <a:pPr lvl="1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Grouped attacks into categories (DoS, Probe, R2L, U2R)</a:t>
            </a:r>
          </a:p>
          <a:p>
            <a:pPr marL="0" indent="0"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lvl="1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Min-Max scaling (0–1 range)</a:t>
            </a:r>
          </a:p>
          <a:p>
            <a:pPr lvl="1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Stabilizes training and improves convergence</a:t>
            </a:r>
          </a:p>
          <a:p>
            <a:pPr marL="0" indent="0"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</a:p>
          <a:p>
            <a:pPr lvl="1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for categorical attributes</a:t>
            </a:r>
          </a:p>
          <a:p>
            <a:pPr lvl="1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dataset fully numeric</a:t>
            </a:r>
          </a:p>
          <a:p>
            <a:pPr marL="342900" lvl="1" indent="0" algn="just">
              <a:buNone/>
            </a:pP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BD71EC-C3F5-1610-28FE-11356568F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92" y="190028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23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4BB0F4-F7B8-9461-3668-ADD0F3402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4" y="245325"/>
            <a:ext cx="3761558" cy="566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0EA96C-BC27-44B9-AF3D-BB3504FCBA39}"/>
              </a:ext>
            </a:extLst>
          </p:cNvPr>
          <p:cNvSpPr txBox="1"/>
          <p:nvPr/>
        </p:nvSpPr>
        <p:spPr>
          <a:xfrm>
            <a:off x="840259" y="944460"/>
            <a:ext cx="7675091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One-Hot encoding for categorical attributes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Makes dataset fully numeric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Balancing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SMOTE applied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Generates minority attack samples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bias and improves recall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&amp; Reduction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Correlation Analysis – removes redundant features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Recursive Feature Elimination (RFE) – selects important attributes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PCA – reduces dimensionality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Faster training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Less complexity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Higher accuracy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4E8FD71-8117-4FFC-96B2-50E43F4C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46255"/>
            <a:ext cx="7886700" cy="79640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3781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1B37-5EC6-BE70-A086-7F1F5FC14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3424" y="701094"/>
            <a:ext cx="3891776" cy="671937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8ABBD-BD0E-FA9E-A722-554261EE1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3031"/>
            <a:ext cx="7886700" cy="4803932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Module</a:t>
            </a:r>
          </a:p>
          <a:p>
            <a:pPr marL="342900" lvl="1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Extracts spatial traffic patterns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Detects protocol anomalies and spikes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Module</a:t>
            </a:r>
          </a:p>
          <a:p>
            <a:pPr marL="342900" lvl="1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Learns sequential dependencies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Captures time-based attack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</a:t>
            </a:r>
          </a:p>
          <a:p>
            <a:pPr marL="342900" lvl="1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Unsupervised anomaly detection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Identifies zero-day and unknown attacks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Layer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outputs of CNN + LSTM + Autoencoder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final classification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670D0-2B0E-13BE-E533-E703245CD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8" y="186597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8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5231E-AEB0-40CB-63DE-806542757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39764"/>
            <a:ext cx="3259349" cy="549274"/>
          </a:xfrm>
        </p:spPr>
        <p:txBody>
          <a:bodyPr>
            <a:norm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 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EBC83-7721-B1C2-6927-72D6E56D6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0449"/>
            <a:ext cx="7886700" cy="4816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Train/Validation/Test split → 70/15/15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Batch size → 64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Epochs → 100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Optimizer → Adam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Learning rate → 0.001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Dropout → 0.5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Implemented using TensorFlow/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Simulated smart network using GNS3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monitoring with Snort/Wireshark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Alerts generated on attack detection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21229-09B6-7C22-99C6-540410FA0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40" y="184864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4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8309-5389-A153-B2CA-5276664D4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279" y="879354"/>
            <a:ext cx="3619965" cy="432041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9FEE9-D7A1-8625-5C70-A63995C8F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3582"/>
            <a:ext cx="7886700" cy="47833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specifications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3.10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TensorFlow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(CNN + LSTM + Autoencoder)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Libraries: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Balancing Library: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Imbalanced-learn (SMOTE)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Pandas, NumPy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Matplotlib, Seaborn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Monitoring Tools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Snort, Wireshark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Environment: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GNS3 / Virtual IoT Network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 /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E85F6-0D6C-7DE9-0868-06C2674A1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7" y="230190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84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6857-2265-F8A7-A19E-4A963102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533" y="822326"/>
            <a:ext cx="3430394" cy="62733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96D01-168A-9CC8-EABE-AD55283FD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9659"/>
            <a:ext cx="7886700" cy="4727304"/>
          </a:xfrm>
        </p:spPr>
        <p:txBody>
          <a:bodyPr>
            <a:norm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i5 / i7 or higher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8 GB (Recommended 16 GB for smoother deep learning training)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20-30 GB free disk space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Optional (recommended for faster deep learning training)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/ Linux / macOS.</a:t>
            </a:r>
          </a:p>
          <a:p>
            <a:pPr marL="0" indent="0" algn="just">
              <a:buNone/>
            </a:pPr>
            <a:r>
              <a:rPr lang="en-US" sz="2400" b="1" dirty="0"/>
              <a:t>How the Project Was Implemented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NSL-KDD and CICIDS2017 datasets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traffic labels (Normal vs Attack)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A7FF3-AFBF-9D40-CDC0-C813DCAFD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48" y="285527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1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4ED5E-AED1-4638-F351-0018E7EB7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832" y="1067654"/>
            <a:ext cx="5638335" cy="49351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Project Was Implemented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94EAA1-2C0C-8F9E-7406-7E1514844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41" y="236224"/>
            <a:ext cx="3761558" cy="56697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8A7932A-FB38-4BDB-AA6A-5F9323145B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3059" y="1554471"/>
            <a:ext cx="867325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and encoding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Balanced data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important features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RFE and PCA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spatial feature extraction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temporal dependency learning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Autoencoder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anomaly/zero-day attack detection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Combined outputs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fusion layer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 dataset into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70% training, 15% validation, 15% testing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Adam optimizer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F1-score,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ROC-AUC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model into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simulated network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alerts for malicious traffic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8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53EF-9783-04DC-8894-66DCD77E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540" y="795414"/>
            <a:ext cx="7444833" cy="50466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&amp; How They Were Overcome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1A90E-9706-98AF-2D3C-66F6D6753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0083"/>
            <a:ext cx="7886700" cy="49603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1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Class Imbalance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normal traffic than attack samples</a:t>
            </a: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balance dataset</a:t>
            </a: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 False Positives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IDS raised unnecessary alerts</a:t>
            </a: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CNN + LSTM + Autoencoder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accuracy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3: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Features</a:t>
            </a:r>
          </a:p>
          <a:p>
            <a:pPr marL="0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Features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RFE + PCA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dimensionality reduction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4: Detecting Zero-Day Attacks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IDS fails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 anomaly detection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991D6-9AFE-99E2-1983-9ECBCE45F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94" y="328892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2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2696" y="717754"/>
            <a:ext cx="4050891" cy="1012192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19377D"/>
                </a:solidFill>
              </a:defRPr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FCE01-CC9D-D9E7-9BF9-C85A54E42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6683"/>
            <a:ext cx="7886700" cy="498495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CNN + LSTM + Autoencoder IDS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very high intrusion detection performance.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97.2%+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0.99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0.99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0.99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1.00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 that the hybrid model provides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reliable and balanced classification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 normal and malicious traffic.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00F3BC-3AD6-2F66-745E-A2CF99092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4" y="257309"/>
            <a:ext cx="3761558" cy="566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6593-CABD-9EBE-CE6A-FAE43D75D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720" y="795087"/>
            <a:ext cx="4032560" cy="415459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97480-C329-FB9A-93E6-4B8748256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71240"/>
            <a:ext cx="7886700" cy="48160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Traffic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Traffic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 (TP):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17,556 → attacks correctly detected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 (TN):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19,911 → normal traffic correctly identified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(FP):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172 → false alarms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 (FN):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153 → missed attacks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false positives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fewer unnecessary alerts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false negatives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fewer missed threats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reliability and practical usability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BABC8C-3ADD-BEFD-DA04-56E61DAE3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92" y="203736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2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BAE4D0-67AD-D4A6-74D4-4BC5C42F6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15845"/>
            <a:ext cx="7886700" cy="476111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- AUS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is close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top-left corner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value ≈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separation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normal and attack traffic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sensitivity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specificity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almost perfectly distinguishes intrusions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8AB269-9731-9763-0F3D-DC0C7505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857" y="681037"/>
            <a:ext cx="3761557" cy="73480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278FA0-4ED6-4B42-DF98-FBAC7919B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5" y="254827"/>
            <a:ext cx="3761558" cy="566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F130-B900-9B44-8F45-958D405C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20" y="776962"/>
            <a:ext cx="7376984" cy="110126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&amp; RESPONSE TIME ANALYSISIS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5F49F-2DB4-B74D-26D4-82C4B6E59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88292"/>
            <a:ext cx="7886700" cy="40886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Hybrid IDS: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MTTD (Detection Time): 45 minutes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MTTR (Response Time): 120 minutes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Hybrid IDS: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MTTD: 15 minutes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MTTR: 40 minutes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detection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damage from attacks</a:t>
            </a:r>
          </a:p>
          <a:p>
            <a:pPr mar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74922-584F-B2A2-291B-EF20EB36E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3" y="292643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21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9BE6E60-DADA-432E-A6CA-B25AD3265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8000115"/>
              </p:ext>
            </p:extLst>
          </p:nvPr>
        </p:nvGraphicFramePr>
        <p:xfrm>
          <a:off x="1112107" y="2005232"/>
          <a:ext cx="7500551" cy="271505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79374">
                  <a:extLst>
                    <a:ext uri="{9D8B030D-6E8A-4147-A177-3AD203B41FA5}">
                      <a16:colId xmlns:a16="http://schemas.microsoft.com/office/drawing/2014/main" val="3848785631"/>
                    </a:ext>
                  </a:extLst>
                </a:gridCol>
                <a:gridCol w="2421924">
                  <a:extLst>
                    <a:ext uri="{9D8B030D-6E8A-4147-A177-3AD203B41FA5}">
                      <a16:colId xmlns:a16="http://schemas.microsoft.com/office/drawing/2014/main" val="1268335016"/>
                    </a:ext>
                  </a:extLst>
                </a:gridCol>
                <a:gridCol w="3299253">
                  <a:extLst>
                    <a:ext uri="{9D8B030D-6E8A-4147-A177-3AD203B41FA5}">
                      <a16:colId xmlns:a16="http://schemas.microsoft.com/office/drawing/2014/main" val="765378002"/>
                    </a:ext>
                  </a:extLst>
                </a:gridCol>
              </a:tblGrid>
              <a:tr h="831976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   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IDS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149915"/>
                  </a:ext>
                </a:extLst>
              </a:tr>
              <a:tr h="465907"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627585"/>
                  </a:ext>
                </a:extLst>
              </a:tr>
              <a:tr h="472389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058771"/>
                  </a:ext>
                </a:extLst>
              </a:tr>
              <a:tr h="472389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310190"/>
                  </a:ext>
                </a:extLst>
              </a:tr>
              <a:tr h="472389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41877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49A5433-31C5-15D0-A1A5-4C2A62103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50" y="268496"/>
            <a:ext cx="3761558" cy="566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642E39-52E9-4801-A842-ACA55F8A57C6}"/>
              </a:ext>
            </a:extLst>
          </p:cNvPr>
          <p:cNvSpPr txBox="1"/>
          <p:nvPr/>
        </p:nvSpPr>
        <p:spPr>
          <a:xfrm>
            <a:off x="1581666" y="982130"/>
            <a:ext cx="67962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PERFORMANCE COMPARISON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da-D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IDS vs Traditional IDS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E263A-2355-4AAF-9FBB-78063E4FC1BA}"/>
              </a:ext>
            </a:extLst>
          </p:cNvPr>
          <p:cNvSpPr txBox="1"/>
          <p:nvPr/>
        </p:nvSpPr>
        <p:spPr>
          <a:xfrm>
            <a:off x="1112107" y="4852768"/>
            <a:ext cx="750055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IDS consistently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outperforms traditional methods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false alarms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detection reliability</a:t>
            </a:r>
          </a:p>
        </p:txBody>
      </p:sp>
    </p:spTree>
    <p:extLst>
      <p:ext uri="{BB962C8B-B14F-4D97-AF65-F5344CB8AC3E}">
        <p14:creationId xmlns:p14="http://schemas.microsoft.com/office/powerpoint/2010/main" val="414152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9FC1-8C24-1DDC-9564-D112D631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649" y="556054"/>
            <a:ext cx="5715996" cy="1233417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br>
              <a:rPr lang="en-IN" sz="2800" b="1" dirty="0"/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D23825-266D-8267-BDBC-F7E588BE0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17" y="219604"/>
            <a:ext cx="3761558" cy="566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CEF371-0F2A-4AD6-8501-A4DA79FFC2C2}"/>
              </a:ext>
            </a:extLst>
          </p:cNvPr>
          <p:cNvSpPr txBox="1"/>
          <p:nvPr/>
        </p:nvSpPr>
        <p:spPr>
          <a:xfrm>
            <a:off x="628650" y="3499499"/>
            <a:ext cx="76874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FUTURE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test the model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real-world network datasets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generalization.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models like Transformers or Attention networks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learning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IDS solutions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edge and IoT devices with low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web/cloud security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automated alert and response mechanisms.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31A77E73-04CA-4368-93BE-EF0353567C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236092"/>
            <a:ext cx="76009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CNN + LSTM + Autoencoder IDS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accurately detects both normal and malicious network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hybrid deep learning approach 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including unknown and zero-day attacks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97%+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very low false positives and false negatives.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detection and response times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make it suitable for real-time IoT and cloud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56912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447B-29B7-DFEB-D2AA-14DE9FCE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045" y="411981"/>
            <a:ext cx="2655324" cy="578771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44838-1808-7D60-6DB9-8F44F8127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642550"/>
            <a:ext cx="8240047" cy="5797579"/>
          </a:xfrm>
        </p:spPr>
        <p:txBody>
          <a:bodyPr>
            <a:noAutofit/>
          </a:bodyPr>
          <a:lstStyle/>
          <a:p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Villegas-Ch et al.,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“Adaptive deep learning-based intrusion detection system,”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Satılmıs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review on host-based intrusion detection systems,”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Cybersecurity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Kumar and P. Sharma,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“Multi-stage deep learning for imbalanced </a:t>
            </a:r>
            <a:r>
              <a:rPr lang="en-IN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IIoT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intrusion detection,”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&amp; Security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Lee and H. Park,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“SDN and split learning for privacy-preserving IDS in smart grids,”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Industrial Informatics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Zhang and M. Liu,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“TSSAN: Time-space separable attention network for semi-supervised IDS,”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Neurocomputing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Patel and K. Singh,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“Optimizing feature selection in IDS using genetic algorithms,”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Research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3F6B5C-2880-1BD5-5595-52620BD63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57" y="180428"/>
            <a:ext cx="3761558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7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5A2D9-230A-4AD1-806B-244185AA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1D400-519C-4EF6-9074-526315D73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Chen and D. Wu,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“Kairos: A graph-based intrusion detection system,”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Transactions on Privacy and Security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Ahmed and I. Khan,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“Deep learning and feature selection for SDN-based IDS,”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Network and Service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Suresh,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Vallepu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Srinivas, Yamani Chan dana, G. Satish, R.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Dhandu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Naik,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Dodda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Venkata Reddy. ”Streamlined network intrusion detection: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selection optimization for higher accuracy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 In Advances in Electrical and Computer Tech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nologies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114-124. CRC Press, 2025.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Tripathi, V. K. Singh, V. Sharma and M. V.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Vinodb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”Weighted Feature Selection for Machine Learning Based Accurate Intrusion Detection in Communication Networks,” in IEEE Access, vol. 12, pp. 20973-20982, 2024,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10.1109/ACCESS.2024.3362794.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283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0AC4-C25C-4C74-ADC7-C1F7C9AB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BD6DB-7F8E-49A8-8CCD-EFDEB302C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Rao, Y.N.; Suresh Babu, K. An Imbalanced Generative Adversarial Network-Based Approach for Network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in an Imbalanced Dataset. Sensors 2023, 23, 550. https://doi.org/10.3390/s23010550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Peng, V. C. M. Leung, L. Zheng, S. Wang, C. Huang, and T. Lin, ”Intrusion Detection System Based on Decision Tree over Big Data in Fog Environment,” Wire less Communications and Mobile Computing, vol. 2018, Article ID 4680867, 2018.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10.1155/2018/4680867.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Dash, N., Chakravarty, S., Rath, A. K.,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C.,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AboRas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M., &amp; Gowtham, N., “An optimized LSTM based deep learning model for anomaly network intrusion detection,” Scientific Reports, vol. 14, no. 1, p. 4286, 2025,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10.1038/s41598-025-85248-z.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32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732A-4323-4BF4-8CC9-A25DB5C0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881C7-03E9-43CB-BC3B-22A8AF521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533525"/>
            <a:ext cx="8534400" cy="4643438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like to express our sincere gratitude to the faculty and staff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 for their guidance and encouragement throughout the development of this project. Their insights and expertise have been invaluable.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extend our thanks to the administration for providing the necessary resources and a platform to showcase our work. This opportunity has been instrumental in enhancing our learning and growth.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questions or further discussions, feel free to reach out:-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divya@gmail.com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Email:Meghana@gmail.com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7337591416                                              Phone: 9989275969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Keerthana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@gmail.com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6305110857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559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0E34AD-AD21-C875-A7F9-7D2A8A0F925F}"/>
              </a:ext>
            </a:extLst>
          </p:cNvPr>
          <p:cNvSpPr/>
          <p:nvPr/>
        </p:nvSpPr>
        <p:spPr>
          <a:xfrm>
            <a:off x="2884963" y="2682200"/>
            <a:ext cx="36297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  <a:endParaRPr lang="en-IN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1040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696</TotalTime>
  <Words>2552</Words>
  <Application>Microsoft Office PowerPoint</Application>
  <PresentationFormat>On-screen Show (4:3)</PresentationFormat>
  <Paragraphs>248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INDEX</vt:lpstr>
      <vt:lpstr>ABSTRACT</vt:lpstr>
      <vt:lpstr>INTRODUCTION</vt:lpstr>
      <vt:lpstr>LITERATURE SURVEY</vt:lpstr>
      <vt:lpstr>LITERATURE SURVEY</vt:lpstr>
      <vt:lpstr>RESEARCH GAPS</vt:lpstr>
      <vt:lpstr>PROBLEM STATEMENT</vt:lpstr>
      <vt:lpstr>OBJECTIVES</vt:lpstr>
      <vt:lpstr>BLOCK DIAGRAM / FLOW DIAGRAM</vt:lpstr>
      <vt:lpstr>METHODOLOGY</vt:lpstr>
      <vt:lpstr>PREPROCESSING STEPS:</vt:lpstr>
      <vt:lpstr>PREPROCESSING STEPS</vt:lpstr>
      <vt:lpstr>Model Architecture</vt:lpstr>
      <vt:lpstr>Training Strategy </vt:lpstr>
      <vt:lpstr>IMPLEMENTATION</vt:lpstr>
      <vt:lpstr>Hardware Specifications</vt:lpstr>
      <vt:lpstr>How the Project Was Implemented</vt:lpstr>
      <vt:lpstr>Challenges Faced &amp; How They Were Overcome</vt:lpstr>
      <vt:lpstr>RESULTS &amp; ANALYSIS</vt:lpstr>
      <vt:lpstr>CONFUSION MATRIX</vt:lpstr>
      <vt:lpstr>ROC-AUC </vt:lpstr>
      <vt:lpstr>DETECTION &amp; RESPONSE TIME ANALYSISIS</vt:lpstr>
      <vt:lpstr>PowerPoint Presentation</vt:lpstr>
      <vt:lpstr>CONCLUSION &amp; FUTURE SCOPE </vt:lpstr>
      <vt:lpstr>REFERENCES</vt:lpstr>
      <vt:lpstr>REFERENCES</vt:lpstr>
      <vt:lpstr>REFERENCES</vt:lpstr>
      <vt:lpstr>ACKNOWLEDGEMENT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Deep Learning Strategy for Real-Time Assembly Task Recognition</dc:title>
  <dc:subject/>
  <dc:creator>Administrator</dc:creator>
  <cp:keywords/>
  <dc:description>generated using python-pptx</dc:description>
  <cp:lastModifiedBy>HELLO</cp:lastModifiedBy>
  <cp:revision>34</cp:revision>
  <dcterms:created xsi:type="dcterms:W3CDTF">2013-01-27T09:14:16Z</dcterms:created>
  <dcterms:modified xsi:type="dcterms:W3CDTF">2026-02-10T05:54:29Z</dcterms:modified>
  <cp:category/>
</cp:coreProperties>
</file>